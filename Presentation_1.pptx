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Montserrat"/>
      <p:bold r:id="rId16"/>
      <p:boldItalic r:id="rId17"/>
    </p:embeddedFont>
    <p:embeddedFont>
      <p:font typeface="Inter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7387E82-7E4C-40B1-9BBC-D41E7CC5BE2F}">
  <a:tblStyle styleId="{D7387E82-7E4C-40B1-9BBC-D41E7CC5BE2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bold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Inter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Int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b83c7a9d6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b83c7a9d6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83c7a9d6_8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83c7a9d6_8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b83c7a9d6_8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b83c7a9d6_8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b83c7a9d6_8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b83c7a9d6_8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b83c7a9d6_8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b83c7a9d6_8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b83c7a9d6_8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b83c7a9d6_8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b83c7a9d6_8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fb83c7a9d6_8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b83c7a9d6_8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fb83c7a9d6_8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b83c7a9d6_8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fb83c7a9d6_8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Relationship Id="rId7" Type="http://schemas.openxmlformats.org/officeDocument/2006/relationships/hyperlink" Target="https://www.wikipedia.org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8475" y="0"/>
            <a:ext cx="926247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1143000" y="1143000"/>
            <a:ext cx="6858000" cy="2857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-118475" y="230425"/>
            <a:ext cx="8898600" cy="482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1C3D6A"/>
                </a:solidFill>
                <a:latin typeface="Montserrat"/>
                <a:ea typeface="Montserrat"/>
                <a:cs typeface="Montserrat"/>
                <a:sym typeface="Montserrat"/>
              </a:rPr>
              <a:t>Webpage Technology Investigation</a:t>
            </a:r>
            <a:endParaRPr b="1" sz="3800">
              <a:solidFill>
                <a:srgbClr val="1C3D6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1C3D6A"/>
                </a:solidFill>
                <a:latin typeface="Montserrat"/>
                <a:ea typeface="Montserrat"/>
                <a:cs typeface="Montserrat"/>
                <a:sym typeface="Montserrat"/>
              </a:rPr>
              <a:t>Kaushal, Pushkar, Divyanshu,</a:t>
            </a:r>
            <a:br>
              <a:rPr b="1" lang="en-GB" sz="2400">
                <a:solidFill>
                  <a:srgbClr val="1C3D6A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GB" sz="2400">
                <a:solidFill>
                  <a:srgbClr val="1C3D6A"/>
                </a:solidFill>
                <a:latin typeface="Montserrat"/>
                <a:ea typeface="Montserrat"/>
                <a:cs typeface="Montserrat"/>
                <a:sym typeface="Montserrat"/>
              </a:rPr>
              <a:t>Chandra Shekhar, Sankalp</a:t>
            </a:r>
            <a:endParaRPr b="1" sz="2400">
              <a:solidFill>
                <a:srgbClr val="1C3D6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14"/>
          <p:cNvGrpSpPr/>
          <p:nvPr/>
        </p:nvGrpSpPr>
        <p:grpSpPr>
          <a:xfrm>
            <a:off x="241875" y="266725"/>
            <a:ext cx="5792909" cy="659700"/>
            <a:chOff x="0" y="-10025"/>
            <a:chExt cx="8267316" cy="659700"/>
          </a:xfrm>
        </p:grpSpPr>
        <p:sp>
          <p:nvSpPr>
            <p:cNvPr id="62" name="Google Shape;62;p14"/>
            <p:cNvSpPr txBox="1"/>
            <p:nvPr/>
          </p:nvSpPr>
          <p:spPr>
            <a:xfrm>
              <a:off x="0" y="-10025"/>
              <a:ext cx="4479600" cy="6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7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01 · WEBSITE INTRODUCTION</a:t>
              </a:r>
              <a:endParaRPr b="1" sz="17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3" name="Google Shape;63;p14"/>
            <p:cNvSpPr txBox="1"/>
            <p:nvPr/>
          </p:nvSpPr>
          <p:spPr>
            <a:xfrm>
              <a:off x="5428716" y="32125"/>
              <a:ext cx="2838600" cy="61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860">
                  <a:solidFill>
                    <a:srgbClr val="0F172A"/>
                  </a:solidFill>
                  <a:latin typeface="Georgia"/>
                  <a:ea typeface="Georgia"/>
                  <a:cs typeface="Georgia"/>
                  <a:sym typeface="Georgia"/>
                </a:rPr>
                <a:t>Wikipedia</a:t>
              </a:r>
              <a:endParaRPr b="1" sz="2860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64" name="Google Shape;64;p14"/>
          <p:cNvSpPr txBox="1"/>
          <p:nvPr/>
        </p:nvSpPr>
        <p:spPr>
          <a:xfrm>
            <a:off x="8534400" y="31788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F172A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hme</a:t>
            </a:r>
            <a:endParaRPr sz="2200">
              <a:solidFill>
                <a:srgbClr val="0F172A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grpSp>
        <p:nvGrpSpPr>
          <p:cNvPr id="65" name="Google Shape;65;p14"/>
          <p:cNvGrpSpPr/>
          <p:nvPr/>
        </p:nvGrpSpPr>
        <p:grpSpPr>
          <a:xfrm>
            <a:off x="109600" y="1077800"/>
            <a:ext cx="6057462" cy="3868991"/>
            <a:chOff x="0" y="0"/>
            <a:chExt cx="5219700" cy="3333900"/>
          </a:xfrm>
        </p:grpSpPr>
        <p:sp>
          <p:nvSpPr>
            <p:cNvPr id="66" name="Google Shape;66;p14"/>
            <p:cNvSpPr/>
            <p:nvPr/>
          </p:nvSpPr>
          <p:spPr>
            <a:xfrm>
              <a:off x="0" y="0"/>
              <a:ext cx="5219700" cy="3333900"/>
            </a:xfrm>
            <a:prstGeom prst="roundRect">
              <a:avLst>
                <a:gd fmla="val 2857" name="adj"/>
              </a:avLst>
            </a:prstGeom>
            <a:solidFill>
              <a:srgbClr val="F1F5F9"/>
            </a:solidFill>
            <a:ln cap="flat" cmpd="sng" w="110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4"/>
            <p:cNvSpPr txBox="1"/>
            <p:nvPr/>
          </p:nvSpPr>
          <p:spPr>
            <a:xfrm>
              <a:off x="140698" y="225569"/>
              <a:ext cx="4914900" cy="296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97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U</a:t>
              </a:r>
              <a:r>
                <a:rPr b="1" lang="en-GB" sz="1597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RL</a:t>
              </a:r>
              <a:r>
                <a:rPr b="1" lang="en-GB" sz="1277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: </a:t>
              </a:r>
              <a:r>
                <a:rPr lang="en-GB" sz="1597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https://www.wikipedia.org — the multilingual portal for all Wikipedia language editions</a:t>
              </a:r>
              <a:endParaRPr sz="159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7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9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Type: </a:t>
              </a:r>
              <a:r>
                <a:rPr lang="en-GB" sz="149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Free, non-profit, collaboratively-edited online encyclopedia</a:t>
              </a:r>
              <a:endParaRPr sz="149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7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9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Owner: </a:t>
              </a:r>
              <a:r>
                <a:rPr lang="en-GB" sz="149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Wikimedia Foundation (registered non-profit, no paid advertising)</a:t>
              </a:r>
              <a:endParaRPr sz="149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7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9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Founded: </a:t>
              </a:r>
              <a:r>
                <a:rPr lang="en-GB" sz="149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January 2001 — the homepage banner marks its 25th anniversary</a:t>
              </a:r>
              <a:endParaRPr sz="149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7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9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Purpose of this page: </a:t>
              </a:r>
              <a:r>
                <a:rPr lang="en-GB" sz="149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 landing/portal page: it doesn't hold articles itself, it routes visitors to the right language edition</a:t>
              </a:r>
              <a:endParaRPr sz="149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7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77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Target Users: </a:t>
              </a:r>
              <a:r>
                <a:rPr lang="en-GB" sz="1277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The general public, students, researchers, and information seekers worldwide</a:t>
              </a:r>
              <a:endParaRPr sz="1277"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8" name="Google Shape;68;p14"/>
          <p:cNvGrpSpPr/>
          <p:nvPr/>
        </p:nvGrpSpPr>
        <p:grpSpPr>
          <a:xfrm>
            <a:off x="6286975" y="266726"/>
            <a:ext cx="2741066" cy="4631171"/>
            <a:chOff x="0" y="38100"/>
            <a:chExt cx="3048000" cy="3143400"/>
          </a:xfrm>
        </p:grpSpPr>
        <p:sp>
          <p:nvSpPr>
            <p:cNvPr id="69" name="Google Shape;69;p14"/>
            <p:cNvSpPr/>
            <p:nvPr/>
          </p:nvSpPr>
          <p:spPr>
            <a:xfrm>
              <a:off x="1219200" y="38100"/>
              <a:ext cx="609600" cy="6096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 txBox="1"/>
            <p:nvPr/>
          </p:nvSpPr>
          <p:spPr>
            <a:xfrm>
              <a:off x="1219200" y="95394"/>
              <a:ext cx="6096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763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language</a:t>
              </a:r>
              <a:endParaRPr sz="2763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0" y="876300"/>
              <a:ext cx="3048000" cy="1086000"/>
            </a:xfrm>
            <a:prstGeom prst="roundRect">
              <a:avLst>
                <a:gd fmla="val 7017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4"/>
            <p:cNvSpPr txBox="1"/>
            <p:nvPr/>
          </p:nvSpPr>
          <p:spPr>
            <a:xfrm>
              <a:off x="152400" y="971550"/>
              <a:ext cx="2743200" cy="8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3355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300+</a:t>
              </a:r>
              <a:endParaRPr b="1" sz="3355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indent="0" lvl="0" marL="0" rtl="0" algn="ctr">
                <a:spcBef>
                  <a:spcPts val="296"/>
                </a:spcBef>
                <a:spcAft>
                  <a:spcPts val="0"/>
                </a:spcAft>
                <a:buNone/>
              </a:pPr>
              <a:r>
                <a:rPr lang="en-GB" sz="987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language editions linked from this single page</a:t>
              </a:r>
              <a:endParaRPr sz="987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3" name="Google Shape;73;p14"/>
            <p:cNvSpPr txBox="1"/>
            <p:nvPr/>
          </p:nvSpPr>
          <p:spPr>
            <a:xfrm>
              <a:off x="0" y="2133600"/>
              <a:ext cx="3048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108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"The homepage currently runs a fundraising banner, framing Wikipedia as a people-built, non-commercial alternative to big tech platforms."</a:t>
              </a:r>
              <a:endParaRPr i="1" sz="108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40"/>
                </a:spcBef>
                <a:spcAft>
                  <a:spcPts val="0"/>
                </a:spcAft>
                <a:buNone/>
              </a:pPr>
              <a:r>
                <a:rPr lang="en-GB" sz="888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— paraphrased from the homepage banner</a:t>
              </a:r>
              <a:endParaRPr sz="888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4" name="Google Shape;74;p14"/>
          <p:cNvGrpSpPr/>
          <p:nvPr/>
        </p:nvGrpSpPr>
        <p:grpSpPr>
          <a:xfrm>
            <a:off x="304800" y="4946800"/>
            <a:ext cx="8534400" cy="190500"/>
            <a:chOff x="0" y="0"/>
            <a:chExt cx="8534400" cy="190500"/>
          </a:xfrm>
        </p:grpSpPr>
        <p:sp>
          <p:nvSpPr>
            <p:cNvPr id="75" name="Google Shape;75;p14"/>
            <p:cNvSpPr txBox="1"/>
            <p:nvPr/>
          </p:nvSpPr>
          <p:spPr>
            <a:xfrm>
              <a:off x="0" y="0"/>
              <a:ext cx="2857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Website Analysis · wikipedia.org</a:t>
              </a:r>
              <a:endParaRPr sz="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6" name="Google Shape;76;p14"/>
            <p:cNvSpPr txBox="1"/>
            <p:nvPr/>
          </p:nvSpPr>
          <p:spPr>
            <a:xfrm>
              <a:off x="8001000" y="0"/>
              <a:ext cx="533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 / 8</a:t>
              </a:r>
              <a:endParaRPr sz="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/>
        </p:nvSpPr>
        <p:spPr>
          <a:xfrm>
            <a:off x="8534400" y="29883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F172A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hoe</a:t>
            </a:r>
            <a:endParaRPr sz="2200">
              <a:solidFill>
                <a:srgbClr val="0F172A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18704" y="0"/>
            <a:ext cx="9262702" cy="520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4254" y="911261"/>
            <a:ext cx="3250875" cy="3866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78400"/>
            <a:ext cx="5858674" cy="443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43736"/>
            <a:ext cx="8654194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18"/>
          <p:cNvGrpSpPr/>
          <p:nvPr/>
        </p:nvGrpSpPr>
        <p:grpSpPr>
          <a:xfrm>
            <a:off x="381000" y="304800"/>
            <a:ext cx="8382000" cy="809700"/>
            <a:chOff x="0" y="0"/>
            <a:chExt cx="8382000" cy="809700"/>
          </a:xfrm>
        </p:grpSpPr>
        <p:sp>
          <p:nvSpPr>
            <p:cNvPr id="99" name="Google Shape;99;p18"/>
            <p:cNvSpPr txBox="1"/>
            <p:nvPr/>
          </p:nvSpPr>
          <p:spPr>
            <a:xfrm>
              <a:off x="0" y="0"/>
              <a:ext cx="76200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05 · BEHAVIOUR</a:t>
              </a:r>
              <a:endParaRPr b="1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GB" sz="2600">
                  <a:solidFill>
                    <a:srgbClr val="0F172A"/>
                  </a:solidFill>
                  <a:latin typeface="Georgia"/>
                  <a:ea typeface="Georgia"/>
                  <a:cs typeface="Georgia"/>
                  <a:sym typeface="Georgia"/>
                </a:rPr>
                <a:t>JavaScript &amp; Interactivity</a:t>
              </a:r>
              <a:endParaRPr b="1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0" name="Google Shape;100;p18"/>
            <p:cNvSpPr txBox="1"/>
            <p:nvPr/>
          </p:nvSpPr>
          <p:spPr>
            <a:xfrm>
              <a:off x="8001000" y="64230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200">
                  <a:solidFill>
                    <a:srgbClr val="1E293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hom</a:t>
              </a:r>
              <a:endParaRPr b="0" sz="2200">
                <a:solidFill>
                  <a:srgbClr val="1E293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101" name="Google Shape;101;p18"/>
          <p:cNvGrpSpPr/>
          <p:nvPr/>
        </p:nvGrpSpPr>
        <p:grpSpPr>
          <a:xfrm>
            <a:off x="4667250" y="1190625"/>
            <a:ext cx="4095900" cy="3520775"/>
            <a:chOff x="0" y="0"/>
            <a:chExt cx="4095900" cy="3352800"/>
          </a:xfrm>
        </p:grpSpPr>
        <p:grpSp>
          <p:nvGrpSpPr>
            <p:cNvPr id="102" name="Google Shape;102;p18"/>
            <p:cNvGrpSpPr/>
            <p:nvPr/>
          </p:nvGrpSpPr>
          <p:grpSpPr>
            <a:xfrm>
              <a:off x="0" y="0"/>
              <a:ext cx="4095900" cy="504900"/>
              <a:chOff x="0" y="0"/>
              <a:chExt cx="4095900" cy="504900"/>
            </a:xfrm>
          </p:grpSpPr>
          <p:sp>
            <p:nvSpPr>
              <p:cNvPr id="103" name="Google Shape;103;p18"/>
              <p:cNvSpPr/>
              <p:nvPr/>
            </p:nvSpPr>
            <p:spPr>
              <a:xfrm>
                <a:off x="0" y="0"/>
                <a:ext cx="4095900" cy="504900"/>
              </a:xfrm>
              <a:prstGeom prst="roundRect">
                <a:avLst>
                  <a:gd fmla="val 15094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18"/>
              <p:cNvSpPr/>
              <p:nvPr/>
            </p:nvSpPr>
            <p:spPr>
              <a:xfrm>
                <a:off x="114300" y="119063"/>
                <a:ext cx="266700" cy="2667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18"/>
              <p:cNvSpPr txBox="1"/>
              <p:nvPr/>
            </p:nvSpPr>
            <p:spPr>
              <a:xfrm>
                <a:off x="114300" y="139509"/>
                <a:ext cx="266700" cy="266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400">
                    <a:solidFill>
                      <a:srgbClr val="FFFF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touch_app</a:t>
                </a:r>
                <a:endParaRPr sz="1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06" name="Google Shape;106;p18"/>
              <p:cNvSpPr txBox="1"/>
              <p:nvPr/>
            </p:nvSpPr>
            <p:spPr>
              <a:xfrm>
                <a:off x="457200" y="57150"/>
                <a:ext cx="3524400" cy="390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879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1. Click buttons</a:t>
                </a:r>
                <a:endParaRPr b="1" sz="879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74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Makes the website interactive by letting users open menus, navigate sections, and access info.</a:t>
                </a:r>
                <a:endParaRPr b="0" sz="74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07" name="Google Shape;107;p18"/>
            <p:cNvGrpSpPr/>
            <p:nvPr/>
          </p:nvGrpSpPr>
          <p:grpSpPr>
            <a:xfrm>
              <a:off x="0" y="571500"/>
              <a:ext cx="4095900" cy="504900"/>
              <a:chOff x="0" y="0"/>
              <a:chExt cx="4095900" cy="504900"/>
            </a:xfrm>
          </p:grpSpPr>
          <p:sp>
            <p:nvSpPr>
              <p:cNvPr id="108" name="Google Shape;108;p18"/>
              <p:cNvSpPr/>
              <p:nvPr/>
            </p:nvSpPr>
            <p:spPr>
              <a:xfrm>
                <a:off x="0" y="0"/>
                <a:ext cx="4095900" cy="504900"/>
              </a:xfrm>
              <a:prstGeom prst="roundRect">
                <a:avLst>
                  <a:gd fmla="val 15094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18"/>
              <p:cNvSpPr/>
              <p:nvPr/>
            </p:nvSpPr>
            <p:spPr>
              <a:xfrm>
                <a:off x="114300" y="119063"/>
                <a:ext cx="266700" cy="2667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18"/>
              <p:cNvSpPr txBox="1"/>
              <p:nvPr/>
            </p:nvSpPr>
            <p:spPr>
              <a:xfrm>
                <a:off x="114300" y="139509"/>
                <a:ext cx="266700" cy="266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400">
                    <a:solidFill>
                      <a:srgbClr val="FFFF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arrow_drop_down_circle</a:t>
                </a:r>
                <a:endParaRPr sz="1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11" name="Google Shape;111;p18"/>
              <p:cNvSpPr txBox="1"/>
              <p:nvPr/>
            </p:nvSpPr>
            <p:spPr>
              <a:xfrm>
                <a:off x="457200" y="57150"/>
                <a:ext cx="3524400" cy="390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879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2. Dropdown menus</a:t>
                </a:r>
                <a:endParaRPr b="1" sz="879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74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Helps users access options and navigate Wikipedia easily without cluttering pages.</a:t>
                </a:r>
                <a:endParaRPr b="0" sz="74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12" name="Google Shape;112;p18"/>
            <p:cNvGrpSpPr/>
            <p:nvPr/>
          </p:nvGrpSpPr>
          <p:grpSpPr>
            <a:xfrm>
              <a:off x="0" y="1143000"/>
              <a:ext cx="4095900" cy="504900"/>
              <a:chOff x="0" y="0"/>
              <a:chExt cx="4095900" cy="504900"/>
            </a:xfrm>
          </p:grpSpPr>
          <p:sp>
            <p:nvSpPr>
              <p:cNvPr id="113" name="Google Shape;113;p18"/>
              <p:cNvSpPr/>
              <p:nvPr/>
            </p:nvSpPr>
            <p:spPr>
              <a:xfrm>
                <a:off x="0" y="0"/>
                <a:ext cx="4095900" cy="504900"/>
              </a:xfrm>
              <a:prstGeom prst="roundRect">
                <a:avLst>
                  <a:gd fmla="val 15094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18"/>
              <p:cNvSpPr/>
              <p:nvPr/>
            </p:nvSpPr>
            <p:spPr>
              <a:xfrm>
                <a:off x="114300" y="119063"/>
                <a:ext cx="266700" cy="2667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18"/>
              <p:cNvSpPr txBox="1"/>
              <p:nvPr/>
            </p:nvSpPr>
            <p:spPr>
              <a:xfrm>
                <a:off x="114300" y="139509"/>
                <a:ext cx="266700" cy="266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400">
                    <a:solidFill>
                      <a:srgbClr val="FFFF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tune</a:t>
                </a:r>
                <a:endParaRPr sz="1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16" name="Google Shape;116;p18"/>
              <p:cNvSpPr txBox="1"/>
              <p:nvPr/>
            </p:nvSpPr>
            <p:spPr>
              <a:xfrm>
                <a:off x="457200" y="57150"/>
                <a:ext cx="3524400" cy="390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879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3. Sliders</a:t>
                </a:r>
                <a:endParaRPr b="1" sz="879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74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Used in specific features to let users adjust values or explore data seamlessly.</a:t>
                </a:r>
                <a:endParaRPr b="0" sz="74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17" name="Google Shape;117;p18"/>
            <p:cNvGrpSpPr/>
            <p:nvPr/>
          </p:nvGrpSpPr>
          <p:grpSpPr>
            <a:xfrm>
              <a:off x="0" y="1714500"/>
              <a:ext cx="4095900" cy="504900"/>
              <a:chOff x="0" y="0"/>
              <a:chExt cx="4095900" cy="504900"/>
            </a:xfrm>
          </p:grpSpPr>
          <p:sp>
            <p:nvSpPr>
              <p:cNvPr id="118" name="Google Shape;118;p18"/>
              <p:cNvSpPr/>
              <p:nvPr/>
            </p:nvSpPr>
            <p:spPr>
              <a:xfrm>
                <a:off x="0" y="0"/>
                <a:ext cx="4095900" cy="504900"/>
              </a:xfrm>
              <a:prstGeom prst="roundRect">
                <a:avLst>
                  <a:gd fmla="val 15094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18"/>
              <p:cNvSpPr/>
              <p:nvPr/>
            </p:nvSpPr>
            <p:spPr>
              <a:xfrm>
                <a:off x="114300" y="119063"/>
                <a:ext cx="266700" cy="2667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18"/>
              <p:cNvSpPr txBox="1"/>
              <p:nvPr/>
            </p:nvSpPr>
            <p:spPr>
              <a:xfrm>
                <a:off x="114300" y="139509"/>
                <a:ext cx="266700" cy="266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400">
                    <a:solidFill>
                      <a:srgbClr val="FFFF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flip_to_front</a:t>
                </a:r>
                <a:endParaRPr sz="1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21" name="Google Shape;121;p18"/>
              <p:cNvSpPr txBox="1"/>
              <p:nvPr/>
            </p:nvSpPr>
            <p:spPr>
              <a:xfrm>
                <a:off x="457200" y="57150"/>
                <a:ext cx="3524400" cy="390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879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4. Pop-ups</a:t>
                </a:r>
                <a:endParaRPr b="1" sz="879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74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No login/ad pop-ups to ensure a simple, distraction-free non-profit platform.</a:t>
                </a:r>
                <a:endParaRPr b="0" sz="74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22" name="Google Shape;122;p18"/>
            <p:cNvGrpSpPr/>
            <p:nvPr/>
          </p:nvGrpSpPr>
          <p:grpSpPr>
            <a:xfrm>
              <a:off x="0" y="2286000"/>
              <a:ext cx="4095900" cy="504900"/>
              <a:chOff x="0" y="0"/>
              <a:chExt cx="4095900" cy="504900"/>
            </a:xfrm>
          </p:grpSpPr>
          <p:sp>
            <p:nvSpPr>
              <p:cNvPr id="123" name="Google Shape;123;p18"/>
              <p:cNvSpPr/>
              <p:nvPr/>
            </p:nvSpPr>
            <p:spPr>
              <a:xfrm>
                <a:off x="0" y="0"/>
                <a:ext cx="4095900" cy="504900"/>
              </a:xfrm>
              <a:prstGeom prst="roundRect">
                <a:avLst>
                  <a:gd fmla="val 15094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18"/>
              <p:cNvSpPr/>
              <p:nvPr/>
            </p:nvSpPr>
            <p:spPr>
              <a:xfrm>
                <a:off x="114300" y="119063"/>
                <a:ext cx="266700" cy="2667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18"/>
              <p:cNvSpPr txBox="1"/>
              <p:nvPr/>
            </p:nvSpPr>
            <p:spPr>
              <a:xfrm>
                <a:off x="114300" y="139509"/>
                <a:ext cx="266700" cy="266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400">
                    <a:solidFill>
                      <a:srgbClr val="FFFF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fact_check</a:t>
                </a:r>
                <a:endParaRPr sz="1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26" name="Google Shape;126;p18"/>
              <p:cNvSpPr txBox="1"/>
              <p:nvPr/>
            </p:nvSpPr>
            <p:spPr>
              <a:xfrm>
                <a:off x="457200" y="57150"/>
                <a:ext cx="3524400" cy="390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879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5. Form validation</a:t>
                </a:r>
                <a:endParaRPr b="1" sz="879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74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Validates forms for activities such as donations, accounts, and editing articles.</a:t>
                </a:r>
                <a:endParaRPr b="0" sz="74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27" name="Google Shape;127;p18"/>
            <p:cNvGrpSpPr/>
            <p:nvPr/>
          </p:nvGrpSpPr>
          <p:grpSpPr>
            <a:xfrm>
              <a:off x="0" y="2857500"/>
              <a:ext cx="4095900" cy="495300"/>
              <a:chOff x="0" y="0"/>
              <a:chExt cx="4095900" cy="495300"/>
            </a:xfrm>
          </p:grpSpPr>
          <p:sp>
            <p:nvSpPr>
              <p:cNvPr id="128" name="Google Shape;128;p18"/>
              <p:cNvSpPr/>
              <p:nvPr/>
            </p:nvSpPr>
            <p:spPr>
              <a:xfrm>
                <a:off x="0" y="0"/>
                <a:ext cx="4095900" cy="495300"/>
              </a:xfrm>
              <a:prstGeom prst="roundRect">
                <a:avLst>
                  <a:gd fmla="val 15384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18"/>
              <p:cNvSpPr/>
              <p:nvPr/>
            </p:nvSpPr>
            <p:spPr>
              <a:xfrm>
                <a:off x="114300" y="114300"/>
                <a:ext cx="266700" cy="2667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18"/>
              <p:cNvSpPr txBox="1"/>
              <p:nvPr/>
            </p:nvSpPr>
            <p:spPr>
              <a:xfrm>
                <a:off x="114300" y="134747"/>
                <a:ext cx="266700" cy="266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400">
                    <a:solidFill>
                      <a:srgbClr val="FFFF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widgets</a:t>
                </a:r>
                <a:endParaRPr sz="1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31" name="Google Shape;131;p18"/>
              <p:cNvSpPr txBox="1"/>
              <p:nvPr/>
            </p:nvSpPr>
            <p:spPr>
              <a:xfrm>
                <a:off x="457200" y="47625"/>
                <a:ext cx="3524400" cy="400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879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6. Other interactive features</a:t>
                </a:r>
                <a:endParaRPr b="1" sz="879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74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Uses search suggestions, tabs, and dynamic images to enhance browsing.</a:t>
                </a:r>
                <a:endParaRPr b="0" sz="74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pic>
        <p:nvPicPr>
          <p:cNvPr id="132" name="Google Shape;132;p18"/>
          <p:cNvPicPr preferRelativeResize="0"/>
          <p:nvPr/>
        </p:nvPicPr>
        <p:blipFill rotWithShape="1">
          <a:blip r:embed="rId4">
            <a:alphaModFix/>
          </a:blip>
          <a:srcRect b="14499" l="0" r="0" t="12529"/>
          <a:stretch/>
        </p:blipFill>
        <p:spPr>
          <a:xfrm>
            <a:off x="381000" y="1921725"/>
            <a:ext cx="2041380" cy="28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8" title="Screenshot 2026-09-17 at 7.26.57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1000" y="1114500"/>
            <a:ext cx="3949174" cy="77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8"/>
          <p:cNvPicPr preferRelativeResize="0"/>
          <p:nvPr/>
        </p:nvPicPr>
        <p:blipFill rotWithShape="1">
          <a:blip r:embed="rId6">
            <a:alphaModFix/>
          </a:blip>
          <a:srcRect b="5643" l="28833" r="11222" t="0"/>
          <a:stretch/>
        </p:blipFill>
        <p:spPr>
          <a:xfrm>
            <a:off x="2560475" y="1949150"/>
            <a:ext cx="1785524" cy="28108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" name="Google Shape;135;p18"/>
          <p:cNvGrpSpPr/>
          <p:nvPr/>
        </p:nvGrpSpPr>
        <p:grpSpPr>
          <a:xfrm>
            <a:off x="381000" y="4876250"/>
            <a:ext cx="8534400" cy="190500"/>
            <a:chOff x="0" y="0"/>
            <a:chExt cx="8534400" cy="190500"/>
          </a:xfrm>
        </p:grpSpPr>
        <p:sp>
          <p:nvSpPr>
            <p:cNvPr id="136" name="Google Shape;136;p18"/>
            <p:cNvSpPr txBox="1"/>
            <p:nvPr/>
          </p:nvSpPr>
          <p:spPr>
            <a:xfrm>
              <a:off x="0" y="36175"/>
              <a:ext cx="2857500" cy="15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Website Analysis :- </a:t>
              </a:r>
              <a:r>
                <a:rPr lang="en-GB" sz="900" u="sng">
                  <a:solidFill>
                    <a:schemeClr val="hlink"/>
                  </a:solidFill>
                  <a:latin typeface="Inter"/>
                  <a:ea typeface="Inter"/>
                  <a:cs typeface="Inter"/>
                  <a:sym typeface="Inter"/>
                  <a:hlinkClick r:id="rId7"/>
                </a:rPr>
                <a:t>https://www.wikipedia.org/</a:t>
              </a:r>
              <a:endParaRPr sz="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7" name="Google Shape;137;p18"/>
            <p:cNvSpPr txBox="1"/>
            <p:nvPr/>
          </p:nvSpPr>
          <p:spPr>
            <a:xfrm>
              <a:off x="8001000" y="0"/>
              <a:ext cx="533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 / 8</a:t>
              </a:r>
              <a:endParaRPr sz="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9"/>
          <p:cNvGrpSpPr/>
          <p:nvPr/>
        </p:nvGrpSpPr>
        <p:grpSpPr>
          <a:xfrm>
            <a:off x="381000" y="304800"/>
            <a:ext cx="8382000" cy="809700"/>
            <a:chOff x="0" y="0"/>
            <a:chExt cx="8382000" cy="809700"/>
          </a:xfrm>
        </p:grpSpPr>
        <p:sp>
          <p:nvSpPr>
            <p:cNvPr id="143" name="Google Shape;143;p19"/>
            <p:cNvSpPr txBox="1"/>
            <p:nvPr/>
          </p:nvSpPr>
          <p:spPr>
            <a:xfrm>
              <a:off x="0" y="0"/>
              <a:ext cx="7620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06 · INFRASTRUCTURE</a:t>
              </a:r>
              <a:endParaRPr b="1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GB" sz="2600">
                  <a:solidFill>
                    <a:srgbClr val="0F172A"/>
                  </a:solidFill>
                  <a:latin typeface="Georgia"/>
                  <a:ea typeface="Georgia"/>
                  <a:cs typeface="Georgia"/>
                  <a:sym typeface="Georgia"/>
                </a:rPr>
                <a:t>Internet &amp; Web Technologies</a:t>
              </a:r>
              <a:endParaRPr b="1" sz="2600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44" name="Google Shape;144;p19"/>
            <p:cNvSpPr txBox="1"/>
            <p:nvPr/>
          </p:nvSpPr>
          <p:spPr>
            <a:xfrm>
              <a:off x="8001000" y="32131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1E293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home</a:t>
              </a:r>
              <a:endParaRPr sz="2200">
                <a:solidFill>
                  <a:srgbClr val="1E293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145" name="Google Shape;145;p19"/>
          <p:cNvGrpSpPr/>
          <p:nvPr/>
        </p:nvGrpSpPr>
        <p:grpSpPr>
          <a:xfrm>
            <a:off x="381000" y="1190625"/>
            <a:ext cx="2667000" cy="1571700"/>
            <a:chOff x="0" y="0"/>
            <a:chExt cx="2667000" cy="1571700"/>
          </a:xfrm>
        </p:grpSpPr>
        <p:sp>
          <p:nvSpPr>
            <p:cNvPr id="146" name="Google Shape;146;p19"/>
            <p:cNvSpPr/>
            <p:nvPr/>
          </p:nvSpPr>
          <p:spPr>
            <a:xfrm>
              <a:off x="0" y="0"/>
              <a:ext cx="2667000" cy="1571700"/>
            </a:xfrm>
            <a:prstGeom prst="roundRect">
              <a:avLst>
                <a:gd fmla="val 606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9"/>
            <p:cNvSpPr/>
            <p:nvPr/>
          </p:nvSpPr>
          <p:spPr>
            <a:xfrm>
              <a:off x="171450" y="171450"/>
              <a:ext cx="342900" cy="3429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9"/>
            <p:cNvSpPr txBox="1"/>
            <p:nvPr/>
          </p:nvSpPr>
          <p:spPr>
            <a:xfrm>
              <a:off x="171450" y="197739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https</a:t>
              </a:r>
              <a:endParaRPr sz="1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49" name="Google Shape;149;p19"/>
            <p:cNvSpPr txBox="1"/>
            <p:nvPr/>
          </p:nvSpPr>
          <p:spPr>
            <a:xfrm>
              <a:off x="647700" y="152400"/>
              <a:ext cx="1886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1. HTTP vs HTTPS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0" name="Google Shape;150;p19"/>
            <p:cNvSpPr txBox="1"/>
            <p:nvPr/>
          </p:nvSpPr>
          <p:spPr>
            <a:xfrm>
              <a:off x="190500" y="590550"/>
              <a:ext cx="2286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Protocol:</a:t>
              </a:r>
              <a:r>
                <a:rPr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Enforces HTTPS (TLS 1.3) encryption.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Secures data transfer, protects privacy, and prevents tampering between client and Wikimedia servers.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1" name="Google Shape;151;p19"/>
          <p:cNvGrpSpPr/>
          <p:nvPr/>
        </p:nvGrpSpPr>
        <p:grpSpPr>
          <a:xfrm>
            <a:off x="3238500" y="1190625"/>
            <a:ext cx="2667000" cy="1571700"/>
            <a:chOff x="0" y="0"/>
            <a:chExt cx="2667000" cy="1571700"/>
          </a:xfrm>
        </p:grpSpPr>
        <p:sp>
          <p:nvSpPr>
            <p:cNvPr id="152" name="Google Shape;152;p19"/>
            <p:cNvSpPr/>
            <p:nvPr/>
          </p:nvSpPr>
          <p:spPr>
            <a:xfrm>
              <a:off x="0" y="0"/>
              <a:ext cx="2667000" cy="1571700"/>
            </a:xfrm>
            <a:prstGeom prst="roundRect">
              <a:avLst>
                <a:gd fmla="val 606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9"/>
            <p:cNvSpPr/>
            <p:nvPr/>
          </p:nvSpPr>
          <p:spPr>
            <a:xfrm>
              <a:off x="171450" y="171450"/>
              <a:ext cx="342900" cy="3429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9"/>
            <p:cNvSpPr txBox="1"/>
            <p:nvPr/>
          </p:nvSpPr>
          <p:spPr>
            <a:xfrm>
              <a:off x="171450" y="197739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language</a:t>
              </a:r>
              <a:endParaRPr sz="1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55" name="Google Shape;155;p19"/>
            <p:cNvSpPr txBox="1"/>
            <p:nvPr/>
          </p:nvSpPr>
          <p:spPr>
            <a:xfrm>
              <a:off x="647700" y="152400"/>
              <a:ext cx="1886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2. Domain Name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6" name="Google Shape;156;p19"/>
            <p:cNvSpPr txBox="1"/>
            <p:nvPr/>
          </p:nvSpPr>
          <p:spPr>
            <a:xfrm>
              <a:off x="190500" y="590550"/>
              <a:ext cx="2286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Host:</a:t>
              </a:r>
              <a:r>
                <a:rPr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https://www.wikipedia.org/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Managed by Wikimedia Foundation. Uses dynamic subdomains (e.g., en.wikipedia.org) for language localization.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7" name="Google Shape;157;p19"/>
          <p:cNvGrpSpPr/>
          <p:nvPr/>
        </p:nvGrpSpPr>
        <p:grpSpPr>
          <a:xfrm>
            <a:off x="6096000" y="1190625"/>
            <a:ext cx="2667000" cy="1571700"/>
            <a:chOff x="0" y="0"/>
            <a:chExt cx="2667000" cy="1571700"/>
          </a:xfrm>
        </p:grpSpPr>
        <p:sp>
          <p:nvSpPr>
            <p:cNvPr id="158" name="Google Shape;158;p19"/>
            <p:cNvSpPr/>
            <p:nvPr/>
          </p:nvSpPr>
          <p:spPr>
            <a:xfrm>
              <a:off x="0" y="0"/>
              <a:ext cx="2667000" cy="1571700"/>
            </a:xfrm>
            <a:prstGeom prst="roundRect">
              <a:avLst>
                <a:gd fmla="val 606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9"/>
            <p:cNvSpPr/>
            <p:nvPr/>
          </p:nvSpPr>
          <p:spPr>
            <a:xfrm>
              <a:off x="171450" y="171450"/>
              <a:ext cx="342900" cy="3429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9"/>
            <p:cNvSpPr txBox="1"/>
            <p:nvPr/>
          </p:nvSpPr>
          <p:spPr>
            <a:xfrm>
              <a:off x="171450" y="197739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dns</a:t>
              </a:r>
              <a:endParaRPr sz="1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1" name="Google Shape;161;p19"/>
            <p:cNvSpPr txBox="1"/>
            <p:nvPr/>
          </p:nvSpPr>
          <p:spPr>
            <a:xfrm>
              <a:off x="647700" y="152400"/>
              <a:ext cx="1886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3. Web Server &amp; Hosting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2" name="Google Shape;162;p19"/>
            <p:cNvSpPr txBox="1"/>
            <p:nvPr/>
          </p:nvSpPr>
          <p:spPr>
            <a:xfrm>
              <a:off x="190500" y="590550"/>
              <a:ext cx="2286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Infrastructure:</a:t>
              </a:r>
              <a:r>
                <a:rPr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Private Wikimedia CDN.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Uses Varnish HTTP accelerators for edge caching and Apache MediaWiki application servers backend.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3" name="Google Shape;163;p19"/>
          <p:cNvGrpSpPr/>
          <p:nvPr/>
        </p:nvGrpSpPr>
        <p:grpSpPr>
          <a:xfrm>
            <a:off x="381000" y="2905125"/>
            <a:ext cx="2667000" cy="1571700"/>
            <a:chOff x="0" y="0"/>
            <a:chExt cx="2667000" cy="1571700"/>
          </a:xfrm>
        </p:grpSpPr>
        <p:sp>
          <p:nvSpPr>
            <p:cNvPr id="164" name="Google Shape;164;p19"/>
            <p:cNvSpPr/>
            <p:nvPr/>
          </p:nvSpPr>
          <p:spPr>
            <a:xfrm>
              <a:off x="0" y="0"/>
              <a:ext cx="2667000" cy="1571700"/>
            </a:xfrm>
            <a:prstGeom prst="roundRect">
              <a:avLst>
                <a:gd fmla="val 606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9"/>
            <p:cNvSpPr/>
            <p:nvPr/>
          </p:nvSpPr>
          <p:spPr>
            <a:xfrm>
              <a:off x="171450" y="171450"/>
              <a:ext cx="342900" cy="3429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9"/>
            <p:cNvSpPr txBox="1"/>
            <p:nvPr/>
          </p:nvSpPr>
          <p:spPr>
            <a:xfrm>
              <a:off x="171450" y="197739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cookie</a:t>
              </a:r>
              <a:endParaRPr sz="1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7" name="Google Shape;167;p19"/>
            <p:cNvSpPr txBox="1"/>
            <p:nvPr/>
          </p:nvSpPr>
          <p:spPr>
            <a:xfrm>
              <a:off x="647700" y="152400"/>
              <a:ext cx="1886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4. Cookies &amp; Storage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8" name="Google Shape;168;p19"/>
            <p:cNvSpPr txBox="1"/>
            <p:nvPr/>
          </p:nvSpPr>
          <p:spPr>
            <a:xfrm>
              <a:off x="190500" y="590550"/>
              <a:ext cx="2286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Policy:</a:t>
              </a:r>
              <a:r>
                <a:rPr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Minimal, privacy-focused.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Stores user preferences, session tokens, and GeoIP language settings. Zero third-party tracking cookies.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9" name="Google Shape;169;p19"/>
          <p:cNvGrpSpPr/>
          <p:nvPr/>
        </p:nvGrpSpPr>
        <p:grpSpPr>
          <a:xfrm>
            <a:off x="3238500" y="2905125"/>
            <a:ext cx="2667000" cy="1571700"/>
            <a:chOff x="0" y="0"/>
            <a:chExt cx="2667000" cy="1571700"/>
          </a:xfrm>
        </p:grpSpPr>
        <p:sp>
          <p:nvSpPr>
            <p:cNvPr id="170" name="Google Shape;170;p19"/>
            <p:cNvSpPr/>
            <p:nvPr/>
          </p:nvSpPr>
          <p:spPr>
            <a:xfrm>
              <a:off x="0" y="0"/>
              <a:ext cx="2667000" cy="1571700"/>
            </a:xfrm>
            <a:prstGeom prst="roundRect">
              <a:avLst>
                <a:gd fmla="val 606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9"/>
            <p:cNvSpPr/>
            <p:nvPr/>
          </p:nvSpPr>
          <p:spPr>
            <a:xfrm>
              <a:off x="171450" y="171450"/>
              <a:ext cx="342900" cy="3429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9"/>
            <p:cNvSpPr txBox="1"/>
            <p:nvPr/>
          </p:nvSpPr>
          <p:spPr>
            <a:xfrm>
              <a:off x="171450" y="197739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sync_alt</a:t>
              </a:r>
              <a:endParaRPr sz="1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3" name="Google Shape;173;p19"/>
            <p:cNvSpPr txBox="1"/>
            <p:nvPr/>
          </p:nvSpPr>
          <p:spPr>
            <a:xfrm>
              <a:off x="647700" y="152400"/>
              <a:ext cx="1886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5. Browser Requests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4" name="Google Shape;174;p19"/>
            <p:cNvSpPr txBox="1"/>
            <p:nvPr/>
          </p:nvSpPr>
          <p:spPr>
            <a:xfrm>
              <a:off x="190500" y="590550"/>
              <a:ext cx="2286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DevTools Inspection:</a:t>
              </a:r>
              <a:r>
                <a:rPr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~25-35 requests.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Fetches HTML document, aggregated CSS/JS modules via ResourceLoader, SVG logo assets, and web fonts.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5" name="Google Shape;175;p19"/>
          <p:cNvGrpSpPr/>
          <p:nvPr/>
        </p:nvGrpSpPr>
        <p:grpSpPr>
          <a:xfrm>
            <a:off x="6096000" y="2905125"/>
            <a:ext cx="2667000" cy="1571700"/>
            <a:chOff x="0" y="0"/>
            <a:chExt cx="2667000" cy="1571700"/>
          </a:xfrm>
        </p:grpSpPr>
        <p:sp>
          <p:nvSpPr>
            <p:cNvPr id="176" name="Google Shape;176;p19"/>
            <p:cNvSpPr/>
            <p:nvPr/>
          </p:nvSpPr>
          <p:spPr>
            <a:xfrm>
              <a:off x="0" y="0"/>
              <a:ext cx="2667000" cy="1571700"/>
            </a:xfrm>
            <a:prstGeom prst="roundRect">
              <a:avLst>
                <a:gd fmla="val 606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9"/>
            <p:cNvSpPr/>
            <p:nvPr/>
          </p:nvSpPr>
          <p:spPr>
            <a:xfrm>
              <a:off x="171450" y="171450"/>
              <a:ext cx="342900" cy="3429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9"/>
            <p:cNvSpPr txBox="1"/>
            <p:nvPr/>
          </p:nvSpPr>
          <p:spPr>
            <a:xfrm>
              <a:off x="171450" y="197739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api</a:t>
              </a:r>
              <a:endParaRPr sz="1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9" name="Google Shape;179;p19"/>
            <p:cNvSpPr txBox="1"/>
            <p:nvPr/>
          </p:nvSpPr>
          <p:spPr>
            <a:xfrm>
              <a:off x="647700" y="152400"/>
              <a:ext cx="1886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6. Network APIs</a:t>
              </a:r>
              <a:endParaRPr b="1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0" name="Google Shape;180;p19"/>
            <p:cNvSpPr txBox="1"/>
            <p:nvPr/>
          </p:nvSpPr>
          <p:spPr>
            <a:xfrm>
              <a:off x="190500" y="590550"/>
              <a:ext cx="2286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Endpoints Identified: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• Action API: /w/api.php (Search suggestions)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GB" sz="9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• REST API v1: /api/rest_v1/ (Page previews)</a:t>
              </a:r>
              <a:endParaRPr sz="9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1" name="Google Shape;181;p19"/>
          <p:cNvGrpSpPr/>
          <p:nvPr/>
        </p:nvGrpSpPr>
        <p:grpSpPr>
          <a:xfrm>
            <a:off x="381000" y="4714875"/>
            <a:ext cx="8382000" cy="238200"/>
            <a:chOff x="0" y="0"/>
            <a:chExt cx="8382000" cy="238200"/>
          </a:xfrm>
        </p:grpSpPr>
        <p:sp>
          <p:nvSpPr>
            <p:cNvPr id="182" name="Google Shape;182;p19"/>
            <p:cNvSpPr txBox="1"/>
            <p:nvPr/>
          </p:nvSpPr>
          <p:spPr>
            <a:xfrm>
              <a:off x="0" y="0"/>
              <a:ext cx="3810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Website Analysis · wikipedia.org</a:t>
              </a:r>
              <a:endParaRPr sz="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3" name="Google Shape;183;p19"/>
            <p:cNvSpPr txBox="1"/>
            <p:nvPr/>
          </p:nvSpPr>
          <p:spPr>
            <a:xfrm>
              <a:off x="7810500" y="0"/>
              <a:ext cx="571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6 / 8</a:t>
              </a:r>
              <a:endParaRPr sz="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p20"/>
          <p:cNvGrpSpPr/>
          <p:nvPr/>
        </p:nvGrpSpPr>
        <p:grpSpPr>
          <a:xfrm>
            <a:off x="381000" y="304800"/>
            <a:ext cx="8382000" cy="809700"/>
            <a:chOff x="0" y="0"/>
            <a:chExt cx="8382000" cy="809700"/>
          </a:xfrm>
        </p:grpSpPr>
        <p:sp>
          <p:nvSpPr>
            <p:cNvPr id="189" name="Google Shape;189;p20"/>
            <p:cNvSpPr txBox="1"/>
            <p:nvPr/>
          </p:nvSpPr>
          <p:spPr>
            <a:xfrm>
              <a:off x="0" y="0"/>
              <a:ext cx="76200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07 · CONTENT FRESHNESS</a:t>
              </a:r>
              <a:endParaRPr b="1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GB" sz="2600">
                  <a:solidFill>
                    <a:srgbClr val="0F172A"/>
                  </a:solidFill>
                  <a:latin typeface="Georgia"/>
                  <a:ea typeface="Georgia"/>
                  <a:cs typeface="Georgia"/>
                  <a:sym typeface="Georgia"/>
                </a:rPr>
                <a:t>Web Page</a:t>
              </a:r>
              <a:r>
                <a:rPr b="1" lang="en-GB" sz="2600">
                  <a:solidFill>
                    <a:srgbClr val="0F172A"/>
                  </a:solidFill>
                  <a:latin typeface="Georgia"/>
                  <a:ea typeface="Georgia"/>
                  <a:cs typeface="Georgia"/>
                  <a:sym typeface="Georgia"/>
                </a:rPr>
                <a:t> Last Updated</a:t>
              </a:r>
              <a:endParaRPr b="1" sz="10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0" name="Google Shape;190;p20"/>
            <p:cNvSpPr txBox="1"/>
            <p:nvPr/>
          </p:nvSpPr>
          <p:spPr>
            <a:xfrm>
              <a:off x="8001000" y="60706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200">
                  <a:solidFill>
                    <a:srgbClr val="1E293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home</a:t>
              </a:r>
              <a:endParaRPr b="0" sz="2200">
                <a:solidFill>
                  <a:srgbClr val="1E293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191" name="Google Shape;191;p20"/>
          <p:cNvGrpSpPr/>
          <p:nvPr/>
        </p:nvGrpSpPr>
        <p:grpSpPr>
          <a:xfrm>
            <a:off x="381000" y="1190625"/>
            <a:ext cx="4191000" cy="781200"/>
            <a:chOff x="0" y="0"/>
            <a:chExt cx="4191000" cy="781200"/>
          </a:xfrm>
        </p:grpSpPr>
        <p:sp>
          <p:nvSpPr>
            <p:cNvPr id="192" name="Google Shape;192;p20"/>
            <p:cNvSpPr/>
            <p:nvPr/>
          </p:nvSpPr>
          <p:spPr>
            <a:xfrm>
              <a:off x="0" y="0"/>
              <a:ext cx="4191000" cy="781200"/>
            </a:xfrm>
            <a:prstGeom prst="roundRect">
              <a:avLst>
                <a:gd fmla="val 9756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0"/>
            <p:cNvSpPr/>
            <p:nvPr/>
          </p:nvSpPr>
          <p:spPr>
            <a:xfrm>
              <a:off x="133350" y="133350"/>
              <a:ext cx="304800" cy="3048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0"/>
            <p:cNvSpPr txBox="1"/>
            <p:nvPr/>
          </p:nvSpPr>
          <p:spPr>
            <a:xfrm>
              <a:off x="133350" y="155257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event</a:t>
              </a:r>
              <a:endParaRPr sz="15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95" name="Google Shape;195;p20"/>
            <p:cNvSpPr txBox="1"/>
            <p:nvPr/>
          </p:nvSpPr>
          <p:spPr>
            <a:xfrm>
              <a:off x="533400" y="95250"/>
              <a:ext cx="35244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1. Publication &amp; Update Dates</a:t>
              </a:r>
              <a:endParaRPr b="1" sz="10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Published Date:</a:t>
              </a:r>
              <a:r>
                <a:rPr lang="en-GB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Originally launched Jan 15, 2001.</a:t>
              </a:r>
              <a:endParaRPr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Last Updated:</a:t>
              </a:r>
              <a:r>
                <a:rPr lang="en-GB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Dynamic / Real-time updates.</a:t>
              </a:r>
              <a:endParaRPr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6" name="Google Shape;196;p20"/>
          <p:cNvGrpSpPr/>
          <p:nvPr/>
        </p:nvGrpSpPr>
        <p:grpSpPr>
          <a:xfrm>
            <a:off x="381000" y="2047875"/>
            <a:ext cx="4191000" cy="781200"/>
            <a:chOff x="0" y="0"/>
            <a:chExt cx="4191000" cy="781200"/>
          </a:xfrm>
        </p:grpSpPr>
        <p:sp>
          <p:nvSpPr>
            <p:cNvPr id="197" name="Google Shape;197;p20"/>
            <p:cNvSpPr/>
            <p:nvPr/>
          </p:nvSpPr>
          <p:spPr>
            <a:xfrm>
              <a:off x="0" y="0"/>
              <a:ext cx="4191000" cy="781200"/>
            </a:xfrm>
            <a:prstGeom prst="roundRect">
              <a:avLst>
                <a:gd fmla="val 9756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0"/>
            <p:cNvSpPr/>
            <p:nvPr/>
          </p:nvSpPr>
          <p:spPr>
            <a:xfrm>
              <a:off x="133350" y="133350"/>
              <a:ext cx="304800" cy="3048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0"/>
            <p:cNvSpPr txBox="1"/>
            <p:nvPr/>
          </p:nvSpPr>
          <p:spPr>
            <a:xfrm>
              <a:off x="133350" y="155257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find_in_page</a:t>
              </a:r>
              <a:endParaRPr sz="15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0" name="Google Shape;200;p20"/>
            <p:cNvSpPr txBox="1"/>
            <p:nvPr/>
          </p:nvSpPr>
          <p:spPr>
            <a:xfrm>
              <a:off x="533400" y="95250"/>
              <a:ext cx="35244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2. Evidence &amp; Location</a:t>
              </a:r>
              <a:endParaRPr b="1" sz="10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Location:</a:t>
              </a:r>
              <a:r>
                <a:rPr lang="en-GB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Site footer &amp; "View history" tab.</a:t>
              </a:r>
              <a:endParaRPr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Verification:</a:t>
              </a:r>
              <a:r>
                <a:rPr lang="en-GB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"This page was last edited on..." stamp.</a:t>
              </a:r>
              <a:endParaRPr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1" name="Google Shape;201;p20"/>
          <p:cNvGrpSpPr/>
          <p:nvPr/>
        </p:nvGrpSpPr>
        <p:grpSpPr>
          <a:xfrm>
            <a:off x="381000" y="2905125"/>
            <a:ext cx="4191000" cy="781200"/>
            <a:chOff x="0" y="0"/>
            <a:chExt cx="4191000" cy="781200"/>
          </a:xfrm>
        </p:grpSpPr>
        <p:sp>
          <p:nvSpPr>
            <p:cNvPr id="202" name="Google Shape;202;p20"/>
            <p:cNvSpPr/>
            <p:nvPr/>
          </p:nvSpPr>
          <p:spPr>
            <a:xfrm>
              <a:off x="0" y="0"/>
              <a:ext cx="4191000" cy="781200"/>
            </a:xfrm>
            <a:prstGeom prst="roundRect">
              <a:avLst>
                <a:gd fmla="val 9756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0"/>
            <p:cNvSpPr/>
            <p:nvPr/>
          </p:nvSpPr>
          <p:spPr>
            <a:xfrm>
              <a:off x="133350" y="133350"/>
              <a:ext cx="304800" cy="3048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0"/>
            <p:cNvSpPr txBox="1"/>
            <p:nvPr/>
          </p:nvSpPr>
          <p:spPr>
            <a:xfrm>
              <a:off x="133350" y="155257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verified_user</a:t>
              </a:r>
              <a:endParaRPr sz="15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5" name="Google Shape;205;p20"/>
            <p:cNvSpPr txBox="1"/>
            <p:nvPr/>
          </p:nvSpPr>
          <p:spPr>
            <a:xfrm>
              <a:off x="533400" y="95250"/>
              <a:ext cx="35244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3. Currency Assessment</a:t>
              </a:r>
              <a:endParaRPr b="1" sz="10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Status:</a:t>
              </a:r>
              <a:r>
                <a:rPr lang="en-GB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Highly current and actively maintained.</a:t>
              </a:r>
              <a:endParaRPr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Mechanism:</a:t>
              </a:r>
              <a:r>
                <a:rPr lang="en-GB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Global editor community &amp; automated bots.</a:t>
              </a:r>
              <a:endParaRPr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6" name="Google Shape;206;p20"/>
          <p:cNvGrpSpPr/>
          <p:nvPr/>
        </p:nvGrpSpPr>
        <p:grpSpPr>
          <a:xfrm>
            <a:off x="381000" y="3762375"/>
            <a:ext cx="4191000" cy="781200"/>
            <a:chOff x="0" y="0"/>
            <a:chExt cx="4191000" cy="781200"/>
          </a:xfrm>
        </p:grpSpPr>
        <p:sp>
          <p:nvSpPr>
            <p:cNvPr id="207" name="Google Shape;207;p20"/>
            <p:cNvSpPr/>
            <p:nvPr/>
          </p:nvSpPr>
          <p:spPr>
            <a:xfrm>
              <a:off x="0" y="0"/>
              <a:ext cx="4191000" cy="781200"/>
            </a:xfrm>
            <a:prstGeom prst="roundRect">
              <a:avLst>
                <a:gd fmla="val 9756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0"/>
            <p:cNvSpPr/>
            <p:nvPr/>
          </p:nvSpPr>
          <p:spPr>
            <a:xfrm>
              <a:off x="133350" y="133350"/>
              <a:ext cx="304800" cy="3048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0"/>
            <p:cNvSpPr txBox="1"/>
            <p:nvPr/>
          </p:nvSpPr>
          <p:spPr>
            <a:xfrm>
              <a:off x="133350" y="155257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history</a:t>
              </a:r>
              <a:endParaRPr sz="15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10" name="Google Shape;210;p20"/>
            <p:cNvSpPr txBox="1"/>
            <p:nvPr/>
          </p:nvSpPr>
          <p:spPr>
            <a:xfrm>
              <a:off x="533400" y="95250"/>
              <a:ext cx="35244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4. Revision &amp; Audit Trail</a:t>
              </a:r>
              <a:endParaRPr b="1" sz="10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Version Control:</a:t>
              </a:r>
              <a:r>
                <a:rPr lang="en-GB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Complete change log per page.</a:t>
              </a:r>
              <a:endParaRPr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Transparency:</a:t>
              </a:r>
              <a:r>
                <a:rPr lang="en-GB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Timestamped edits and byte diffs.</a:t>
              </a:r>
              <a:endParaRPr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1" name="Google Shape;211;p20"/>
          <p:cNvGrpSpPr/>
          <p:nvPr/>
        </p:nvGrpSpPr>
        <p:grpSpPr>
          <a:xfrm>
            <a:off x="381000" y="4714875"/>
            <a:ext cx="8382000" cy="238200"/>
            <a:chOff x="0" y="0"/>
            <a:chExt cx="8382000" cy="238200"/>
          </a:xfrm>
        </p:grpSpPr>
        <p:sp>
          <p:nvSpPr>
            <p:cNvPr id="212" name="Google Shape;212;p20"/>
            <p:cNvSpPr txBox="1"/>
            <p:nvPr/>
          </p:nvSpPr>
          <p:spPr>
            <a:xfrm>
              <a:off x="0" y="0"/>
              <a:ext cx="38100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Website Analysis · wikipedia.org</a:t>
              </a:r>
              <a:endParaRPr b="0" sz="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3" name="Google Shape;213;p20"/>
            <p:cNvSpPr txBox="1"/>
            <p:nvPr/>
          </p:nvSpPr>
          <p:spPr>
            <a:xfrm>
              <a:off x="7810500" y="0"/>
              <a:ext cx="5715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7 / 8</a:t>
              </a:r>
              <a:endParaRPr b="0" sz="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4" name="Google Shape;214;p20"/>
          <p:cNvGrpSpPr/>
          <p:nvPr/>
        </p:nvGrpSpPr>
        <p:grpSpPr>
          <a:xfrm>
            <a:off x="4762500" y="1190625"/>
            <a:ext cx="4000500" cy="3352800"/>
            <a:chOff x="0" y="0"/>
            <a:chExt cx="4000500" cy="3352800"/>
          </a:xfrm>
        </p:grpSpPr>
        <p:sp>
          <p:nvSpPr>
            <p:cNvPr id="215" name="Google Shape;215;p20"/>
            <p:cNvSpPr/>
            <p:nvPr/>
          </p:nvSpPr>
          <p:spPr>
            <a:xfrm>
              <a:off x="0" y="0"/>
              <a:ext cx="4000500" cy="3352800"/>
            </a:xfrm>
            <a:prstGeom prst="roundRect">
              <a:avLst>
                <a:gd fmla="val 284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0"/>
            <p:cNvSpPr txBox="1"/>
            <p:nvPr/>
          </p:nvSpPr>
          <p:spPr>
            <a:xfrm>
              <a:off x="152400" y="114300"/>
              <a:ext cx="36957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Screenshot Evidence</a:t>
              </a:r>
              <a:endParaRPr b="1" sz="8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Page Footer &amp; Revision History Stamp</a:t>
              </a:r>
              <a:endParaRPr b="1" sz="10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descr="A modern browser screenshot showing the Wikipedia website page footer and revision history stamp with a timestamp from 2026 reading 'This page was last edited on 12 April 2026, at 18:45 (UTC)' along with active community revision log details." id="217" name="Google Shape;217;p20"/>
            <p:cNvPicPr preferRelativeResize="0"/>
            <p:nvPr/>
          </p:nvPicPr>
          <p:blipFill rotWithShape="1">
            <a:blip r:embed="rId4">
              <a:alphaModFix/>
            </a:blip>
            <a:srcRect b="2381" l="0" r="0" t="2381"/>
            <a:stretch/>
          </p:blipFill>
          <p:spPr>
            <a:xfrm>
              <a:off x="133350" y="552450"/>
              <a:ext cx="3733800" cy="2667000"/>
            </a:xfrm>
            <a:prstGeom prst="roundRect">
              <a:avLst>
                <a:gd fmla="val 2142" name="adj"/>
              </a:avLst>
            </a:prstGeom>
            <a:noFill/>
            <a:ln>
              <a:noFill/>
            </a:ln>
          </p:spPr>
        </p:pic>
        <p:sp>
          <p:nvSpPr>
            <p:cNvPr id="218" name="Google Shape;218;p20"/>
            <p:cNvSpPr/>
            <p:nvPr/>
          </p:nvSpPr>
          <p:spPr>
            <a:xfrm>
              <a:off x="133350" y="552450"/>
              <a:ext cx="3733800" cy="2667000"/>
            </a:xfrm>
            <a:prstGeom prst="roundRect">
              <a:avLst>
                <a:gd fmla="val 2142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3" name="Google Shape;223;p21"/>
          <p:cNvGraphicFramePr/>
          <p:nvPr/>
        </p:nvGraphicFramePr>
        <p:xfrm>
          <a:off x="787073" y="10357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{D7387E82-7E4C-40B1-9BBC-D41E7CC5BE2F}</a:tableStyleId>
              </a:tblPr>
              <a:tblGrid>
                <a:gridCol w="1077875"/>
                <a:gridCol w="426175"/>
                <a:gridCol w="891650"/>
                <a:gridCol w="399700"/>
                <a:gridCol w="1197400"/>
                <a:gridCol w="382850"/>
                <a:gridCol w="1214250"/>
                <a:gridCol w="382850"/>
                <a:gridCol w="1258025"/>
                <a:gridCol w="448575"/>
              </a:tblGrid>
              <a:tr h="6799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/>
                        <a:t>Pushkar 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/>
                        <a:t>Kaushal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/>
                        <a:t>Divyanshu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/>
                        <a:t>Chandra 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</a:rPr>
                        <a:t>Sankalp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7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Design</a:t>
                      </a:r>
                      <a:endParaRPr sz="10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8</a:t>
                      </a:r>
                      <a:endParaRPr sz="10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Design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Design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Design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Design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7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Navigation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10</a:t>
                      </a:r>
                      <a:endParaRPr sz="10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Navigation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Navigation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Navigation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Navigation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218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Speed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10</a:t>
                      </a:r>
                      <a:endParaRPr sz="10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Speed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Speed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Speed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10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Speed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78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Mobile Friendliness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7</a:t>
                      </a:r>
                      <a:endParaRPr sz="10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Mobile Friendliness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Mobile Friendliness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Mobile Friendliness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Mobile Friendliness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17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Security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8</a:t>
                      </a:r>
                      <a:endParaRPr sz="10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Security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Security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Security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Security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Content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6</a:t>
                      </a:r>
                      <a:endParaRPr sz="10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Content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7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Content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7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Content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7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Content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7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466700">
                <a:tc gridSpan="9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Overall</a:t>
                      </a:r>
                      <a:endParaRPr b="1" sz="10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8.</a:t>
                      </a:r>
                      <a:r>
                        <a:rPr lang="en-GB" sz="1000"/>
                        <a:t>37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  <p:sp>
        <p:nvSpPr>
          <p:cNvPr id="224" name="Google Shape;224;p21"/>
          <p:cNvSpPr txBox="1"/>
          <p:nvPr/>
        </p:nvSpPr>
        <p:spPr>
          <a:xfrm>
            <a:off x="3070126" y="372475"/>
            <a:ext cx="307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9"/>
              </a:buClr>
              <a:buSzPts val="2400"/>
              <a:buFont typeface="Georgia"/>
              <a:buNone/>
            </a:pPr>
            <a:r>
              <a:rPr b="1" lang="en-GB" sz="2700">
                <a:solidFill>
                  <a:srgbClr val="1A1D29"/>
                </a:solidFill>
                <a:latin typeface="Georgia"/>
                <a:ea typeface="Georgia"/>
                <a:cs typeface="Georgia"/>
                <a:sym typeface="Georgia"/>
              </a:rPr>
              <a:t>Final Evaluation </a:t>
            </a:r>
            <a:endParaRPr b="0" i="0" sz="2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