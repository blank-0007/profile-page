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bold r:id="rId16"/>
      <p:boldItalic r:id="rId17"/>
    </p:embeddedFont>
    <p:embeddedFont>
      <p:font typeface="Inter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0F5FB7-2700-4899-B183-5C3CC30B5E44}">
  <a:tblStyle styleId="{EB0F5FB7-2700-4899-B183-5C3CC30B5E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83c7a9d6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83c7a9d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83c7a9d6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83c7a9d6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83c7a9d6_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83c7a9d6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83c7a9d6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b83c7a9d6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83c7a9d6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83c7a9d6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83c7a9d6_8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83c7a9d6_8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83c7a9d6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b83c7a9d6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83c7a9d6_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b83c7a9d6_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83c7a9d6_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b83c7a9d6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475" y="0"/>
            <a:ext cx="92624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143000" y="1143000"/>
            <a:ext cx="6858000" cy="285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118475" y="230425"/>
            <a:ext cx="8898600" cy="48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Webpage Technology Investigation</a:t>
            </a:r>
            <a:endParaRPr b="1" sz="3800">
              <a:solidFill>
                <a:srgbClr val="1C3D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Kaushal, Pushkar, Divyanshu,</a:t>
            </a:r>
            <a:b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Chandra Shekhar, Sankalp</a:t>
            </a:r>
            <a:endParaRPr b="1" sz="2400">
              <a:solidFill>
                <a:srgbClr val="1C3D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241875" y="266725"/>
            <a:ext cx="5792909" cy="659700"/>
            <a:chOff x="0" y="-10025"/>
            <a:chExt cx="8267316" cy="65970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0" y="-10025"/>
              <a:ext cx="44796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 · WEBSITE INTRODUCTION</a:t>
              </a:r>
              <a:endParaRPr b="1" sz="17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428716" y="32125"/>
              <a:ext cx="2838600" cy="6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6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Wikipedia</a:t>
              </a:r>
              <a:endParaRPr b="1" sz="286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534400" y="3178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hme</a:t>
            </a:r>
            <a:endParaRPr sz="2200">
              <a:solidFill>
                <a:srgbClr val="0F172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109600" y="1077800"/>
            <a:ext cx="6057462" cy="3868991"/>
            <a:chOff x="0" y="0"/>
            <a:chExt cx="5219700" cy="33339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5219700" cy="33339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110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40698" y="225569"/>
              <a:ext cx="4914900" cy="29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9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U</a:t>
              </a:r>
              <a:r>
                <a:rPr b="1" lang="en-GB" sz="159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RL</a:t>
              </a:r>
              <a:r>
                <a:rPr b="1" lang="en-GB" sz="127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GB" sz="1597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https://www.wikipedia.org — the multilingual portal for all Wikipedia language editions</a:t>
              </a:r>
              <a:endParaRPr sz="159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Type: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Free, non-profit, collaboratively-edited online encyclopedia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Owner: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Wikimedia Foundation (registered non-profit, no paid advertising)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Founded: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January 2001 — the homepage banner marks its 25th anniversary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Purpose of this page: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landing/portal page: it doesn't hold articles itself, it routes visitors to the right language edition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7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Target Users: </a:t>
              </a:r>
              <a:r>
                <a:rPr lang="en-GB" sz="1277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general public, students, researchers, and information seekers worldwide</a:t>
              </a:r>
              <a:endParaRPr sz="1277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6286975" y="266726"/>
            <a:ext cx="2741066" cy="4631171"/>
            <a:chOff x="0" y="38100"/>
            <a:chExt cx="3048000" cy="3143400"/>
          </a:xfrm>
        </p:grpSpPr>
        <p:sp>
          <p:nvSpPr>
            <p:cNvPr id="69" name="Google Shape;69;p14"/>
            <p:cNvSpPr/>
            <p:nvPr/>
          </p:nvSpPr>
          <p:spPr>
            <a:xfrm>
              <a:off x="1219200" y="38100"/>
              <a:ext cx="609600" cy="609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219200" y="95394"/>
              <a:ext cx="609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63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2763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876300"/>
              <a:ext cx="3048000" cy="1086000"/>
            </a:xfrm>
            <a:prstGeom prst="roundRect">
              <a:avLst>
                <a:gd fmla="val 701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52400" y="971550"/>
              <a:ext cx="27432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355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300+</a:t>
              </a:r>
              <a:endParaRPr b="1" sz="335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296"/>
                </a:spcBef>
                <a:spcAft>
                  <a:spcPts val="0"/>
                </a:spcAft>
                <a:buNone/>
              </a:pPr>
              <a:r>
                <a:rPr lang="en-GB" sz="98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language editions linked from this single page</a:t>
              </a:r>
              <a:endParaRPr sz="98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2133600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8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"The homepage currently runs a fundraising banner, framing Wikipedia as a people-built, non-commercial alternative to big tech platforms."</a:t>
              </a:r>
              <a:endParaRPr i="1" sz="108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40"/>
                </a:spcBef>
                <a:spcAft>
                  <a:spcPts val="0"/>
                </a:spcAft>
                <a:buNone/>
              </a:pPr>
              <a:r>
                <a:rPr lang="en-GB" sz="88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— paraphrased from the homepage banner</a:t>
              </a:r>
              <a:endParaRPr sz="88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4" name="Google Shape;74;p14"/>
          <p:cNvSpPr txBox="1"/>
          <p:nvPr/>
        </p:nvSpPr>
        <p:spPr>
          <a:xfrm>
            <a:off x="304800" y="49468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Website Analysis · wikipedia.org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8534400" y="2988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hoe</a:t>
            </a:r>
            <a:endParaRPr sz="2200">
              <a:solidFill>
                <a:srgbClr val="0F172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704" y="0"/>
            <a:ext cx="9262702" cy="52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8696225" y="4843025"/>
            <a:ext cx="256200" cy="238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254" y="911261"/>
            <a:ext cx="3250875" cy="386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11253" t="0"/>
          <a:stretch/>
        </p:blipFill>
        <p:spPr>
          <a:xfrm>
            <a:off x="152400" y="378400"/>
            <a:ext cx="5199275" cy="44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736"/>
            <a:ext cx="865419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8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98" name="Google Shape;98;p18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05 · BEHAVIOUR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JavaScript &amp; Interactivity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9" name="Google Shape;99;p18"/>
            <p:cNvSpPr txBox="1"/>
            <p:nvPr/>
          </p:nvSpPr>
          <p:spPr>
            <a:xfrm>
              <a:off x="8001000" y="6423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</a:t>
              </a:r>
              <a:endParaRPr b="0"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00" name="Google Shape;100;p18"/>
          <p:cNvGrpSpPr/>
          <p:nvPr/>
        </p:nvGrpSpPr>
        <p:grpSpPr>
          <a:xfrm>
            <a:off x="4667250" y="1190625"/>
            <a:ext cx="4095900" cy="3520775"/>
            <a:chOff x="0" y="0"/>
            <a:chExt cx="4095900" cy="3352800"/>
          </a:xfrm>
        </p:grpSpPr>
        <p:grpSp>
          <p:nvGrpSpPr>
            <p:cNvPr id="101" name="Google Shape;101;p18"/>
            <p:cNvGrpSpPr/>
            <p:nvPr/>
          </p:nvGrpSpPr>
          <p:grpSpPr>
            <a:xfrm>
              <a:off x="0" y="0"/>
              <a:ext cx="4095900" cy="504900"/>
              <a:chOff x="0" y="0"/>
              <a:chExt cx="4095900" cy="504900"/>
            </a:xfrm>
          </p:grpSpPr>
          <p:sp>
            <p:nvSpPr>
              <p:cNvPr id="102" name="Google Shape;102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touch_app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5" name="Google Shape;105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Click buttons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Makes the website interactive by letting users open menus, navigate sections, and access info.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6" name="Google Shape;106;p18"/>
            <p:cNvGrpSpPr/>
            <p:nvPr/>
          </p:nvGrpSpPr>
          <p:grpSpPr>
            <a:xfrm>
              <a:off x="0" y="571500"/>
              <a:ext cx="4095900" cy="504900"/>
              <a:chOff x="0" y="0"/>
              <a:chExt cx="4095900" cy="504900"/>
            </a:xfrm>
          </p:grpSpPr>
          <p:sp>
            <p:nvSpPr>
              <p:cNvPr id="107" name="Google Shape;107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arrow_drop_down_circle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0" name="Google Shape;110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Dropdown menus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Helps users access options and navigate Wikipedia easily without cluttering pages.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1" name="Google Shape;111;p18"/>
            <p:cNvGrpSpPr/>
            <p:nvPr/>
          </p:nvGrpSpPr>
          <p:grpSpPr>
            <a:xfrm>
              <a:off x="0" y="1143000"/>
              <a:ext cx="4095900" cy="504900"/>
              <a:chOff x="0" y="0"/>
              <a:chExt cx="4095900" cy="504900"/>
            </a:xfrm>
          </p:grpSpPr>
          <p:sp>
            <p:nvSpPr>
              <p:cNvPr id="112" name="Google Shape;112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tune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5" name="Google Shape;115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3. Sliders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Used in specific features to let users adjust values or explore data seamlessly.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6" name="Google Shape;116;p18"/>
            <p:cNvGrpSpPr/>
            <p:nvPr/>
          </p:nvGrpSpPr>
          <p:grpSpPr>
            <a:xfrm>
              <a:off x="0" y="1714500"/>
              <a:ext cx="4095900" cy="504900"/>
              <a:chOff x="0" y="0"/>
              <a:chExt cx="4095900" cy="504900"/>
            </a:xfrm>
          </p:grpSpPr>
          <p:sp>
            <p:nvSpPr>
              <p:cNvPr id="117" name="Google Shape;117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flip_to_front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0" name="Google Shape;120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4. Pop-ups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No login/ad pop-ups to ensure a simple, distraction-free non-profit platform.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" name="Google Shape;121;p18"/>
            <p:cNvGrpSpPr/>
            <p:nvPr/>
          </p:nvGrpSpPr>
          <p:grpSpPr>
            <a:xfrm>
              <a:off x="0" y="2286000"/>
              <a:ext cx="4095900" cy="504900"/>
              <a:chOff x="0" y="0"/>
              <a:chExt cx="4095900" cy="504900"/>
            </a:xfrm>
          </p:grpSpPr>
          <p:sp>
            <p:nvSpPr>
              <p:cNvPr id="122" name="Google Shape;122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5" name="Google Shape;125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5. Form validation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Validates forms for activities such as donations, accounts, and editing articles.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6" name="Google Shape;126;p18"/>
            <p:cNvGrpSpPr/>
            <p:nvPr/>
          </p:nvGrpSpPr>
          <p:grpSpPr>
            <a:xfrm>
              <a:off x="0" y="2857500"/>
              <a:ext cx="4095900" cy="495300"/>
              <a:chOff x="0" y="0"/>
              <a:chExt cx="4095900" cy="495300"/>
            </a:xfrm>
          </p:grpSpPr>
          <p:sp>
            <p:nvSpPr>
              <p:cNvPr id="127" name="Google Shape;127;p18"/>
              <p:cNvSpPr/>
              <p:nvPr/>
            </p:nvSpPr>
            <p:spPr>
              <a:xfrm>
                <a:off x="0" y="0"/>
                <a:ext cx="40959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8"/>
              <p:cNvSpPr/>
              <p:nvPr/>
            </p:nvSpPr>
            <p:spPr>
              <a:xfrm>
                <a:off x="114300" y="114300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8"/>
              <p:cNvSpPr txBox="1"/>
              <p:nvPr/>
            </p:nvSpPr>
            <p:spPr>
              <a:xfrm>
                <a:off x="114300" y="134747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widgets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0" name="Google Shape;130;p18"/>
              <p:cNvSpPr txBox="1"/>
              <p:nvPr/>
            </p:nvSpPr>
            <p:spPr>
              <a:xfrm>
                <a:off x="457200" y="47625"/>
                <a:ext cx="3524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6. Other interactive features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Uses search suggestions, tabs, and dynamic images to enhance browsing.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31" name="Google Shape;131;p18"/>
          <p:cNvPicPr preferRelativeResize="0"/>
          <p:nvPr/>
        </p:nvPicPr>
        <p:blipFill rotWithShape="1">
          <a:blip r:embed="rId4">
            <a:alphaModFix/>
          </a:blip>
          <a:srcRect b="14499" l="0" r="0" t="12529"/>
          <a:stretch/>
        </p:blipFill>
        <p:spPr>
          <a:xfrm>
            <a:off x="381000" y="1921725"/>
            <a:ext cx="2041380" cy="28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Screenshot 2026-09-17 at 7.26.5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1114500"/>
            <a:ext cx="3949174" cy="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6">
            <a:alphaModFix/>
          </a:blip>
          <a:srcRect b="5643" l="28833" r="11222" t="0"/>
          <a:stretch/>
        </p:blipFill>
        <p:spPr>
          <a:xfrm>
            <a:off x="2560475" y="1949150"/>
            <a:ext cx="1785524" cy="281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9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139" name="Google Shape;139;p19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06 · INFRASTRUCTURE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Internet &amp; Web Technologies</a:t>
              </a:r>
              <a:endParaRPr b="1" sz="26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8001000" y="3213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home</a:t>
              </a:r>
              <a:endParaRPr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381000" y="1190625"/>
            <a:ext cx="2667000" cy="1571700"/>
            <a:chOff x="0" y="0"/>
            <a:chExt cx="2667000" cy="1571700"/>
          </a:xfrm>
        </p:grpSpPr>
        <p:sp>
          <p:nvSpPr>
            <p:cNvPr id="142" name="Google Shape;142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https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5" name="Google Shape;145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HTTP vs HTTPS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Protocol: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Enforces HTTPS (TLS 1.3) encryption.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Secures data transfer, protects privacy, and prevents tampering between client and Wikimedia servers.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3238500" y="1190625"/>
            <a:ext cx="2667000" cy="1571700"/>
            <a:chOff x="0" y="0"/>
            <a:chExt cx="2667000" cy="1571700"/>
          </a:xfrm>
        </p:grpSpPr>
        <p:sp>
          <p:nvSpPr>
            <p:cNvPr id="148" name="Google Shape;148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Domain Name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Host: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https://www.wikipedia.org/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Managed by Wikimedia Foundation. Uses dynamic subdomains (e.g., en.wikipedia.org) for language localization.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9"/>
          <p:cNvGrpSpPr/>
          <p:nvPr/>
        </p:nvGrpSpPr>
        <p:grpSpPr>
          <a:xfrm>
            <a:off x="6096000" y="1190625"/>
            <a:ext cx="2667000" cy="1571700"/>
            <a:chOff x="0" y="0"/>
            <a:chExt cx="2667000" cy="1571700"/>
          </a:xfrm>
        </p:grpSpPr>
        <p:sp>
          <p:nvSpPr>
            <p:cNvPr id="154" name="Google Shape;154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Web Server &amp; Hosting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Infrastructure: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Private Wikimedia CDN.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Uses Varnish HTTP accelerators for edge caching and Apache MediaWiki application servers backend.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9"/>
          <p:cNvGrpSpPr/>
          <p:nvPr/>
        </p:nvGrpSpPr>
        <p:grpSpPr>
          <a:xfrm>
            <a:off x="381000" y="2905125"/>
            <a:ext cx="2667000" cy="1571700"/>
            <a:chOff x="0" y="0"/>
            <a:chExt cx="2667000" cy="1571700"/>
          </a:xfrm>
        </p:grpSpPr>
        <p:sp>
          <p:nvSpPr>
            <p:cNvPr id="160" name="Google Shape;160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cookie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 Cookies &amp; Storage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Policy: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Minimal, privacy-focused.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user preferences, session tokens, and GeoIP language settings. Zero third-party tracking cookies.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3238500" y="2905125"/>
            <a:ext cx="2667000" cy="1571700"/>
            <a:chOff x="0" y="0"/>
            <a:chExt cx="2667000" cy="1571700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sync_alt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5. Browser Requests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DevTools Inspection: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~25-35 requests.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Fetches HTML document, aggregated CSS/JS modules via ResourceLoader, SVG logo assets, and web fonts.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9"/>
          <p:cNvGrpSpPr/>
          <p:nvPr/>
        </p:nvGrpSpPr>
        <p:grpSpPr>
          <a:xfrm>
            <a:off x="6096000" y="2905125"/>
            <a:ext cx="2667000" cy="1571700"/>
            <a:chOff x="0" y="0"/>
            <a:chExt cx="2667000" cy="1571700"/>
          </a:xfrm>
        </p:grpSpPr>
        <p:sp>
          <p:nvSpPr>
            <p:cNvPr id="172" name="Google Shape;172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6. Network APIs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Endpoints Identified: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Action API: /w/api.php (Search suggestions)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REST API v1: /api/rest_v1/ (Page previews)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7" name="Google Shape;177;p19"/>
          <p:cNvSpPr txBox="1"/>
          <p:nvPr/>
        </p:nvSpPr>
        <p:spPr>
          <a:xfrm>
            <a:off x="265125" y="4969975"/>
            <a:ext cx="2861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Website Analysis · wikipedia.org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0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183" name="Google Shape;183;p20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07 · CONTENT FRESHNESS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Web Page</a:t>
              </a: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 Last Updated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8001000" y="6070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home</a:t>
              </a:r>
              <a:endParaRPr b="0"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381000" y="1190625"/>
            <a:ext cx="4191000" cy="781200"/>
            <a:chOff x="0" y="0"/>
            <a:chExt cx="4191000" cy="7812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Publication &amp; Update Dates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Published Date: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Originally launched Jan 15, 2001.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Last Updated: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Dynamic / Real-time updates.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381000" y="2047875"/>
            <a:ext cx="4191000" cy="781200"/>
            <a:chOff x="0" y="0"/>
            <a:chExt cx="4191000" cy="781200"/>
          </a:xfrm>
        </p:grpSpPr>
        <p:sp>
          <p:nvSpPr>
            <p:cNvPr id="191" name="Google Shape;191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find_in_page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Evidence &amp; Location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Location: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Site footer &amp; "View history" tab.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Verification: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"This page was last edited on..." stamp.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381000" y="2905125"/>
            <a:ext cx="4191000" cy="781200"/>
            <a:chOff x="0" y="0"/>
            <a:chExt cx="4191000" cy="781200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Currency Assessment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Status: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Highly current and actively maintained.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Mechanism: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Global editor community &amp; automated bots.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381000" y="3762375"/>
            <a:ext cx="4191000" cy="781200"/>
            <a:chOff x="0" y="0"/>
            <a:chExt cx="4191000" cy="7812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 Revision &amp; Audit Trail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Version Control: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Complete change log per page.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Transparency: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Timestamped edits and byte diffs.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381000" y="4714875"/>
            <a:ext cx="8382000" cy="238200"/>
            <a:chOff x="0" y="0"/>
            <a:chExt cx="8382000" cy="238200"/>
          </a:xfrm>
        </p:grpSpPr>
        <p:sp>
          <p:nvSpPr>
            <p:cNvPr id="206" name="Google Shape;206;p20"/>
            <p:cNvSpPr txBox="1"/>
            <p:nvPr/>
          </p:nvSpPr>
          <p:spPr>
            <a:xfrm>
              <a:off x="0" y="0"/>
              <a:ext cx="3810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Website Analysis · wikipedia.org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7810500" y="0"/>
              <a:ext cx="571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762500" y="1190625"/>
            <a:ext cx="4000500" cy="3352800"/>
            <a:chOff x="0" y="0"/>
            <a:chExt cx="4000500" cy="3352800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4000500" cy="3352800"/>
            </a:xfrm>
            <a:prstGeom prst="roundRect">
              <a:avLst>
                <a:gd fmla="val 284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152400" y="114300"/>
              <a:ext cx="36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Screenshot Evidence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Page Footer &amp; Revision History Stamp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A modern browser screenshot showing the Wikipedia website page footer and revision history stamp with a timestamp from 2026 reading 'This page was last edited on 12 April 2026, at 18:45 (UTC)' along with active community revision log details." id="211" name="Google Shape;211;p20"/>
            <p:cNvPicPr preferRelativeResize="0"/>
            <p:nvPr/>
          </p:nvPicPr>
          <p:blipFill rotWithShape="1">
            <a:blip r:embed="rId4">
              <a:alphaModFix/>
            </a:blip>
            <a:srcRect b="2381" l="0" r="0" t="2381"/>
            <a:stretch/>
          </p:blipFill>
          <p:spPr>
            <a:xfrm>
              <a:off x="133350" y="552450"/>
              <a:ext cx="3733800" cy="2667000"/>
            </a:xfrm>
            <a:prstGeom prst="roundRect">
              <a:avLst>
                <a:gd fmla="val 2142" name="adj"/>
              </a:avLst>
            </a:prstGeom>
            <a:noFill/>
            <a:ln>
              <a:noFill/>
            </a:ln>
          </p:spPr>
        </p:pic>
        <p:sp>
          <p:nvSpPr>
            <p:cNvPr id="212" name="Google Shape;212;p20"/>
            <p:cNvSpPr/>
            <p:nvPr/>
          </p:nvSpPr>
          <p:spPr>
            <a:xfrm>
              <a:off x="133350" y="552450"/>
              <a:ext cx="3733800" cy="2667000"/>
            </a:xfrm>
            <a:prstGeom prst="roundRect">
              <a:avLst>
                <a:gd fmla="val 2142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21"/>
          <p:cNvGraphicFramePr/>
          <p:nvPr/>
        </p:nvGraphicFramePr>
        <p:xfrm>
          <a:off x="787073" y="10357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{EB0F5FB7-2700-4899-B183-5C3CC30B5E44}</a:tableStyleId>
              </a:tblPr>
              <a:tblGrid>
                <a:gridCol w="1077875"/>
                <a:gridCol w="426175"/>
                <a:gridCol w="891650"/>
                <a:gridCol w="399700"/>
                <a:gridCol w="1197400"/>
                <a:gridCol w="382850"/>
                <a:gridCol w="1214250"/>
                <a:gridCol w="382850"/>
                <a:gridCol w="1258025"/>
                <a:gridCol w="448575"/>
              </a:tblGrid>
              <a:tr h="6799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Pushkar 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Kaushal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Divyanshu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Chandra 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</a:rPr>
                        <a:t>Sankalp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66700">
                <a:tc gridSpan="9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Overall</a:t>
                      </a:r>
                      <a:endParaRPr b="1"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8.</a:t>
                      </a:r>
                      <a:r>
                        <a:rPr lang="en-GB" sz="1000"/>
                        <a:t>37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18" name="Google Shape;218;p21"/>
          <p:cNvSpPr txBox="1"/>
          <p:nvPr/>
        </p:nvSpPr>
        <p:spPr>
          <a:xfrm>
            <a:off x="3070126" y="372475"/>
            <a:ext cx="307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2400"/>
              <a:buFont typeface="Georgia"/>
              <a:buNone/>
            </a:pPr>
            <a:r>
              <a:rPr b="1" lang="en-GB" sz="2700">
                <a:solidFill>
                  <a:srgbClr val="1A1D29"/>
                </a:solidFill>
                <a:latin typeface="Georgia"/>
                <a:ea typeface="Georgia"/>
                <a:cs typeface="Georgia"/>
                <a:sym typeface="Georgia"/>
              </a:rPr>
              <a:t>Final Evaluation 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